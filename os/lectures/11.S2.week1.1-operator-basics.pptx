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6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</p:sldIdLst>
  <p:sldSz cx="12192000" cy="6858000"/>
  <p:notesSz cx="6858000" cy="12192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sldImg"/>
          </p:nvPr>
        </p:nvSpPr>
        <p:spPr>
          <a:xfrm>
            <a:off x="533520" y="764280"/>
            <a:ext cx="6704640" cy="3771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move the slide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PlaceHolder 4"/>
          <p:cNvSpPr>
            <a:spLocks noGrp="1"/>
          </p:cNvSpPr>
          <p:nvPr>
            <p:ph type="dt" idx="1"/>
          </p:nvPr>
        </p:nvSpPr>
        <p:spPr>
          <a:xfrm>
            <a:off x="439920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" name="PlaceHolder 5"/>
          <p:cNvSpPr>
            <a:spLocks noGrp="1"/>
          </p:cNvSpPr>
          <p:nvPr>
            <p:ph type="ftr" idx="2"/>
          </p:nvPr>
        </p:nvSpPr>
        <p:spPr>
          <a:xfrm>
            <a:off x="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6"/>
          <p:cNvSpPr>
            <a:spLocks noGrp="1"/>
          </p:cNvSpPr>
          <p:nvPr>
            <p:ph type="sldNum" idx="3"/>
          </p:nvPr>
        </p:nvSpPr>
        <p:spPr>
          <a:xfrm>
            <a:off x="439920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056DAAC7-7C98-4100-8445-140E8663C6A0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0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" name="PlaceHolder 3"/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F47400D8-B881-4FF9-A81C-C6D2AD6F602A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0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349C50DA-9A2D-43FE-A667-FE02ECA25232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0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" name="PlaceHolder 3"/>
          <p:cNvSpPr>
            <a:spLocks noGrp="1"/>
          </p:cNvSpPr>
          <p:nvPr>
            <p:ph type="sldNum" idx="6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06DB782E-5BC1-433D-B541-042E1B657760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1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62272CD1-A71B-4645-8A48-8FFFD2FC7AD6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1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D0CB7E9B-B628-4A81-9209-EC210D6CC3D0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1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" name="PlaceHolder 3"/>
          <p:cNvSpPr>
            <a:spLocks noGrp="1"/>
          </p:cNvSpPr>
          <p:nvPr>
            <p:ph type="sldNum" idx="9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D7A9BFB9-F973-4D65-8DD2-3934D50ACD5B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hyperlink" Target="https://github.com/carteras/cookbook/blob/main/os/cta.ssh.md" TargetMode="External"/><Relationship Id="rId2" Type="http://schemas.openxmlformats.org/officeDocument/2006/relationships/hyperlink" Target="https://github.com/carteras/cookbook/blob/main/os/cta.ssh.md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hyperlink" Target="https://github.com/carteras/cookbook/blob/main/os/cta.finding-and-using-flags.md" TargetMode="External"/><Relationship Id="rId2" Type="http://schemas.openxmlformats.org/officeDocument/2006/relationships/hyperlink" Target="https://github.com/carteras/cookbook/blob/main/os/cta.finding-and-using-flags.md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hyperlink" Target="https://github.com/carteras/cookbook/blob/main/os/cta.cat-is-cat.md" TargetMode="External"/><Relationship Id="rId2" Type="http://schemas.openxmlformats.org/officeDocument/2006/relationships/hyperlink" Target="https://github.com/carteras/cookbook/blob/main/os/cta.cat-is-cat.md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hyperlink" Target="https://github.com/carteras/cookbook/blob/main/os/cat.using-7z.md" TargetMode="External"/><Relationship Id="rId2" Type="http://schemas.openxmlformats.org/officeDocument/2006/relationships/hyperlink" Target="https://github.com/carteras/cookbook/blob/main/os/cat.using-7z.md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hyperlink" Target="https://github.com/carteras/cookbook/blob/main/os/cat.copying-files-to-you-(scp).md" TargetMode="External"/><Relationship Id="rId2" Type="http://schemas.openxmlformats.org/officeDocument/2006/relationships/hyperlink" Target="https://github.com/carteras/cookbook/blob/main/os/cat.copying-files-to-you-(scp).md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12b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0"/>
          <p:cNvSpPr/>
          <p:nvPr/>
        </p:nvSpPr>
        <p:spPr>
          <a:xfrm>
            <a:off x="1143720" y="1417320"/>
            <a:ext cx="9600480" cy="3748320"/>
          </a:xfrm>
          <a:prstGeom prst="roundRect">
            <a:avLst>
              <a:gd name="adj" fmla="val 2927"/>
            </a:avLst>
          </a:prstGeom>
          <a:solidFill>
            <a:srgbClr val="2b383c"/>
          </a:solidFill>
          <a:ln w="12700">
            <a:solidFill>
              <a:srgbClr val="3e4e5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" name="Shape 1"/>
          <p:cNvSpPr/>
          <p:nvPr/>
        </p:nvSpPr>
        <p:spPr>
          <a:xfrm>
            <a:off x="1280160" y="1417320"/>
            <a:ext cx="9600480" cy="383400"/>
          </a:xfrm>
          <a:prstGeom prst="rect">
            <a:avLst/>
          </a:prstGeom>
          <a:solidFill>
            <a:srgbClr val="1a242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" name="Shape 2"/>
          <p:cNvSpPr/>
          <p:nvPr/>
        </p:nvSpPr>
        <p:spPr>
          <a:xfrm>
            <a:off x="1508760" y="1549800"/>
            <a:ext cx="118080" cy="118080"/>
          </a:xfrm>
          <a:prstGeom prst="ellipse">
            <a:avLst/>
          </a:prstGeom>
          <a:solidFill>
            <a:srgbClr val="ff5f5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38880" bIns="3888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" name="Shape 3"/>
          <p:cNvSpPr/>
          <p:nvPr/>
        </p:nvSpPr>
        <p:spPr>
          <a:xfrm>
            <a:off x="1710000" y="1549800"/>
            <a:ext cx="118080" cy="118080"/>
          </a:xfrm>
          <a:prstGeom prst="ellipse">
            <a:avLst/>
          </a:prstGeom>
          <a:solidFill>
            <a:srgbClr val="ffbd2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38880" bIns="3888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Shape 4"/>
          <p:cNvSpPr/>
          <p:nvPr/>
        </p:nvSpPr>
        <p:spPr>
          <a:xfrm>
            <a:off x="1911240" y="1549800"/>
            <a:ext cx="118080" cy="118080"/>
          </a:xfrm>
          <a:prstGeom prst="ellipse">
            <a:avLst/>
          </a:prstGeom>
          <a:solidFill>
            <a:srgbClr val="27c93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38880" bIns="3888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Text 5"/>
          <p:cNvSpPr/>
          <p:nvPr/>
        </p:nvSpPr>
        <p:spPr>
          <a:xfrm>
            <a:off x="1280160" y="1417320"/>
            <a:ext cx="9600480" cy="38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u="none" strike="noStrike">
                <a:solidFill>
                  <a:srgbClr val="9aa5a8"/>
                </a:solidFill>
                <a:effectLst/>
                <a:uFillTx/>
                <a:latin typeface="Courier New"/>
                <a:ea typeface="Courier New"/>
              </a:rPr>
              <a:t>~/os-cookbook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" name="Text 6"/>
          <p:cNvSpPr/>
          <p:nvPr/>
        </p:nvSpPr>
        <p:spPr>
          <a:xfrm>
            <a:off x="1737360" y="2194560"/>
            <a:ext cx="8686080" cy="82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4000" b="1" u="none" strike="noStrike">
                <a:solidFill>
                  <a:srgbClr val="ededed"/>
                </a:solidFill>
                <a:effectLst/>
                <a:uFillTx/>
                <a:latin typeface="Bookman Old Style"/>
                <a:ea typeface="Bookman Old Style"/>
              </a:rPr>
              <a:t>Operator Basics</a:t>
            </a:r>
            <a:endParaRPr lang="en-US" sz="4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" name="Text 7"/>
          <p:cNvSpPr/>
          <p:nvPr/>
        </p:nvSpPr>
        <p:spPr>
          <a:xfrm>
            <a:off x="1737360" y="2926080"/>
            <a:ext cx="868608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800" b="0" u="none" strike="noStrike">
                <a:solidFill>
                  <a:srgbClr val="00e676"/>
                </a:solidFill>
                <a:effectLst/>
                <a:uFillTx/>
                <a:latin typeface="Calibri"/>
                <a:ea typeface="Calibri"/>
              </a:rPr>
              <a:t>A Cognitive Task Analysis Walkthrough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" name="Text 8"/>
          <p:cNvSpPr/>
          <p:nvPr/>
        </p:nvSpPr>
        <p:spPr>
          <a:xfrm>
            <a:off x="1737360" y="3794760"/>
            <a:ext cx="159948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0" u="none" strike="noStrike">
                <a:solidFill>
                  <a:srgbClr val="00e676"/>
                </a:solidFill>
                <a:effectLst/>
                <a:uFillTx/>
                <a:latin typeface="Courier New"/>
                <a:ea typeface="Courier New"/>
              </a:rPr>
              <a:t>$ ssh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" name="Text 9"/>
          <p:cNvSpPr/>
          <p:nvPr/>
        </p:nvSpPr>
        <p:spPr>
          <a:xfrm>
            <a:off x="3474720" y="3794760"/>
            <a:ext cx="159948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0" u="none" strike="noStrike">
                <a:solidFill>
                  <a:srgbClr val="00e676"/>
                </a:solidFill>
                <a:effectLst/>
                <a:uFillTx/>
                <a:latin typeface="Courier New"/>
                <a:ea typeface="Courier New"/>
              </a:rPr>
              <a:t>$ md5 hash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" name="Text 10"/>
          <p:cNvSpPr/>
          <p:nvPr/>
        </p:nvSpPr>
        <p:spPr>
          <a:xfrm>
            <a:off x="5212080" y="3794760"/>
            <a:ext cx="159948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0" u="none" strike="noStrike">
                <a:solidFill>
                  <a:srgbClr val="00e676"/>
                </a:solidFill>
                <a:effectLst/>
                <a:uFillTx/>
                <a:latin typeface="Courier New"/>
                <a:ea typeface="Courier New"/>
              </a:rPr>
              <a:t>$ cat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" name="Text 11"/>
          <p:cNvSpPr/>
          <p:nvPr/>
        </p:nvSpPr>
        <p:spPr>
          <a:xfrm>
            <a:off x="6949440" y="3794760"/>
            <a:ext cx="159948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0" u="none" strike="noStrike">
                <a:solidFill>
                  <a:srgbClr val="00e676"/>
                </a:solidFill>
                <a:effectLst/>
                <a:uFillTx/>
                <a:latin typeface="Courier New"/>
                <a:ea typeface="Courier New"/>
              </a:rPr>
              <a:t>$ 7z x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" name="Text 12"/>
          <p:cNvSpPr/>
          <p:nvPr/>
        </p:nvSpPr>
        <p:spPr>
          <a:xfrm>
            <a:off x="8686800" y="3794760"/>
            <a:ext cx="159948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0" u="none" strike="noStrike">
                <a:solidFill>
                  <a:srgbClr val="00e676"/>
                </a:solidFill>
                <a:effectLst/>
                <a:uFillTx/>
                <a:latin typeface="Courier New"/>
                <a:ea typeface="Courier New"/>
              </a:rPr>
              <a:t>$ scp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" name="Text 13"/>
          <p:cNvSpPr/>
          <p:nvPr/>
        </p:nvSpPr>
        <p:spPr>
          <a:xfrm>
            <a:off x="1737360" y="4389120"/>
            <a:ext cx="868608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0" i="1" u="none" strike="noStrike">
                <a:solidFill>
                  <a:srgbClr val="9aa5a8"/>
                </a:solidFill>
                <a:effectLst/>
                <a:uFillTx/>
                <a:latin typeface="Calibri"/>
                <a:ea typeface="Calibri"/>
              </a:rPr>
              <a:t>Five foundational commands, decomposed step by step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" name="Text 14"/>
          <p:cNvSpPr/>
          <p:nvPr/>
        </p:nvSpPr>
        <p:spPr>
          <a:xfrm>
            <a:off x="10881360" y="6510600"/>
            <a:ext cx="109656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9aa5a8"/>
                </a:solidFill>
                <a:effectLst/>
                <a:uFillTx/>
                <a:latin typeface="Courier New"/>
                <a:ea typeface="Courier New"/>
              </a:rPr>
              <a:t>0 / 5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" name="Text 15"/>
          <p:cNvSpPr/>
          <p:nvPr/>
        </p:nvSpPr>
        <p:spPr>
          <a:xfrm>
            <a:off x="457200" y="6510600"/>
            <a:ext cx="36568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9aa5a8"/>
                </a:solidFill>
                <a:effectLst/>
                <a:uFillTx/>
                <a:latin typeface="Courier New"/>
                <a:ea typeface="Courier New"/>
              </a:rPr>
              <a:t>os cookbook · CTA reference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12b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Shape 0"/>
          <p:cNvSpPr/>
          <p:nvPr/>
        </p:nvSpPr>
        <p:spPr>
          <a:xfrm>
            <a:off x="0" y="0"/>
            <a:ext cx="3931200" cy="6857280"/>
          </a:xfrm>
          <a:prstGeom prst="rect">
            <a:avLst/>
          </a:prstGeom>
          <a:solidFill>
            <a:srgbClr val="2b383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" name="Text 1"/>
          <p:cNvSpPr/>
          <p:nvPr/>
        </p:nvSpPr>
        <p:spPr>
          <a:xfrm>
            <a:off x="457200" y="502920"/>
            <a:ext cx="2742480" cy="100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5400" b="1" u="none" strike="noStrike">
                <a:solidFill>
                  <a:srgbClr val="3e4e52"/>
                </a:solidFill>
                <a:effectLst/>
                <a:uFillTx/>
                <a:latin typeface="Bookman Old Style"/>
                <a:ea typeface="Bookman Old Style"/>
              </a:rPr>
              <a:t>01</a:t>
            </a:r>
            <a:endParaRPr lang="en-US" sz="5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" name="Shape 2"/>
          <p:cNvSpPr/>
          <p:nvPr/>
        </p:nvSpPr>
        <p:spPr>
          <a:xfrm>
            <a:off x="457200" y="1600200"/>
            <a:ext cx="3016800" cy="913680"/>
          </a:xfrm>
          <a:prstGeom prst="roundRect">
            <a:avLst>
              <a:gd name="adj" fmla="val 8000"/>
            </a:avLst>
          </a:prstGeom>
          <a:solidFill>
            <a:srgbClr val="1a2427"/>
          </a:solidFill>
          <a:ln w="12700">
            <a:solidFill>
              <a:srgbClr val="3e4e5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" name="Shape 3"/>
          <p:cNvSpPr/>
          <p:nvPr/>
        </p:nvSpPr>
        <p:spPr>
          <a:xfrm>
            <a:off x="640080" y="1737360"/>
            <a:ext cx="118080" cy="118080"/>
          </a:xfrm>
          <a:prstGeom prst="ellipse">
            <a:avLst/>
          </a:prstGeom>
          <a:solidFill>
            <a:srgbClr val="ff5f5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38880" bIns="3888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" name="Shape 4"/>
          <p:cNvSpPr/>
          <p:nvPr/>
        </p:nvSpPr>
        <p:spPr>
          <a:xfrm>
            <a:off x="841320" y="1737360"/>
            <a:ext cx="118080" cy="118080"/>
          </a:xfrm>
          <a:prstGeom prst="ellipse">
            <a:avLst/>
          </a:prstGeom>
          <a:solidFill>
            <a:srgbClr val="ffbd2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38880" bIns="3888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Shape 5"/>
          <p:cNvSpPr/>
          <p:nvPr/>
        </p:nvSpPr>
        <p:spPr>
          <a:xfrm>
            <a:off x="1042560" y="1737360"/>
            <a:ext cx="118080" cy="118080"/>
          </a:xfrm>
          <a:prstGeom prst="ellipse">
            <a:avLst/>
          </a:prstGeom>
          <a:solidFill>
            <a:srgbClr val="27c93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38880" bIns="3888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Text 6"/>
          <p:cNvSpPr/>
          <p:nvPr/>
        </p:nvSpPr>
        <p:spPr>
          <a:xfrm>
            <a:off x="594360" y="1965960"/>
            <a:ext cx="274248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500" b="1" u="none" strike="noStrike">
                <a:solidFill>
                  <a:srgbClr val="00e676"/>
                </a:solidFill>
                <a:effectLst/>
                <a:uFillTx/>
                <a:latin typeface="Courier New"/>
                <a:ea typeface="Courier New"/>
              </a:rPr>
              <a:t>ssh user@host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" name="Text 7"/>
          <p:cNvSpPr/>
          <p:nvPr/>
        </p:nvSpPr>
        <p:spPr>
          <a:xfrm>
            <a:off x="457200" y="2743200"/>
            <a:ext cx="3016800" cy="2376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0" u="none" strike="noStrike">
                <a:solidFill>
                  <a:srgbClr val="9aa5a8"/>
                </a:solidFill>
                <a:effectLst/>
                <a:uFillTx/>
                <a:latin typeface="Calibri"/>
                <a:ea typeface="Calibri"/>
              </a:rPr>
              <a:t>Authenticating to a remote Linux host and orienting to it before doing anything else.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" name="Text 8"/>
          <p:cNvSpPr/>
          <p:nvPr/>
        </p:nvSpPr>
        <p:spPr>
          <a:xfrm>
            <a:off x="4480560" y="548640"/>
            <a:ext cx="715896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200" b="1" u="none" strike="noStrike">
                <a:solidFill>
                  <a:srgbClr val="ededed"/>
                </a:solidFill>
                <a:effectLst/>
                <a:uFillTx/>
                <a:latin typeface="Bookman Old Style"/>
                <a:ea typeface="Bookman Old Style"/>
              </a:rPr>
              <a:t>ssh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" name="Text 9"/>
          <p:cNvSpPr/>
          <p:nvPr/>
        </p:nvSpPr>
        <p:spPr>
          <a:xfrm>
            <a:off x="4480560" y="1188720"/>
            <a:ext cx="7158960" cy="411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ededed"/>
              </a:buClr>
              <a:buFont typeface="Wingdings 3" charset="2"/>
              <a:buChar char=""/>
            </a:pPr>
            <a:r>
              <a:rPr lang="en-US" sz="1500" b="0" u="none" strike="noStrike">
                <a:solidFill>
                  <a:srgbClr val="ededed"/>
                </a:solidFill>
                <a:effectLst/>
                <a:uFillTx/>
                <a:latin typeface="Calibri"/>
                <a:ea typeface="Calibri"/>
              </a:rPr>
              <a:t>Connect with ssh user@host (or the IP) — default port is 22, no -p needed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ededed"/>
              </a:buClr>
              <a:buFont typeface="Wingdings 3" charset="2"/>
              <a:buChar char=""/>
            </a:pPr>
            <a:r>
              <a:rPr lang="en-US" sz="1500" b="0" u="none" strike="noStrike">
                <a:solidFill>
                  <a:srgbClr val="ededed"/>
                </a:solidFill>
                <a:effectLst/>
                <a:uFillTx/>
                <a:latin typeface="Calibri"/>
                <a:ea typeface="Calibri"/>
              </a:rPr>
              <a:t>On first connection, verify then accept the host-key fingerprint (trust-on-first-use); a fingerprint that changes on a known host is the real red flag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ededed"/>
              </a:buClr>
              <a:buFont typeface="Wingdings 3" charset="2"/>
              <a:buChar char=""/>
            </a:pPr>
            <a:r>
              <a:rPr lang="en-US" sz="1500" b="0" u="none" strike="noStrike">
                <a:solidFill>
                  <a:srgbClr val="ededed"/>
                </a:solidFill>
                <a:effectLst/>
                <a:uFillTx/>
                <a:latin typeface="Calibri"/>
                <a:ea typeface="Calibri"/>
              </a:rPr>
              <a:t>Enter credentials, then stop and read the full MOTD banner before running commands — it often hides version info or clues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ededed"/>
              </a:buClr>
              <a:buFont typeface="Wingdings 3" charset="2"/>
              <a:buChar char=""/>
            </a:pPr>
            <a:r>
              <a:rPr lang="en-US" sz="1500" b="0" u="none" strike="noStrike">
                <a:solidFill>
                  <a:srgbClr val="ededed"/>
                </a:solidFill>
                <a:effectLst/>
                <a:uFillTx/>
                <a:latin typeface="Calibri"/>
                <a:ea typeface="Calibri"/>
              </a:rPr>
              <a:t>Any hash-like string found later is one-way — classify it (length, charset, prefix) before deciding whether to crack it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" name="Shape 10"/>
          <p:cNvSpPr/>
          <p:nvPr/>
        </p:nvSpPr>
        <p:spPr>
          <a:xfrm>
            <a:off x="4480560" y="5577840"/>
            <a:ext cx="7158960" cy="776520"/>
          </a:xfrm>
          <a:prstGeom prst="roundRect">
            <a:avLst>
              <a:gd name="adj" fmla="val 9412"/>
            </a:avLst>
          </a:prstGeom>
          <a:solidFill>
            <a:srgbClr val="2b383c"/>
          </a:solidFill>
          <a:ln w="12700">
            <a:solidFill>
              <a:srgbClr val="3e4e5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" name="Text 11"/>
          <p:cNvSpPr/>
          <p:nvPr/>
        </p:nvSpPr>
        <p:spPr>
          <a:xfrm>
            <a:off x="4709160" y="5577840"/>
            <a:ext cx="1462320" cy="77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u="none" strike="noStrike">
                <a:solidFill>
                  <a:srgbClr val="9aa5a8"/>
                </a:solidFill>
                <a:effectLst/>
                <a:uFillTx/>
                <a:latin typeface="Calibri"/>
                <a:ea typeface="Calibri"/>
              </a:rPr>
              <a:t>Full CTA →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" name="Text 12">
            <a:hlinkClick r:id="rId1"/>
          </p:cNvPr>
          <p:cNvSpPr/>
          <p:nvPr/>
        </p:nvSpPr>
        <p:spPr>
          <a:xfrm>
            <a:off x="6035040" y="5577840"/>
            <a:ext cx="5421600" cy="77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u="sng" strike="noStrike">
                <a:solidFill>
                  <a:srgbClr val="0563c1"/>
                </a:solidFill>
                <a:effectLst/>
                <a:uFillTx/>
                <a:latin typeface="Courier New"/>
                <a:ea typeface="Courier New"/>
                <a:hlinkClick r:id="rId2"/>
              </a:rPr>
              <a:t>cta.ssh.md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" name="Text 13"/>
          <p:cNvSpPr/>
          <p:nvPr/>
        </p:nvSpPr>
        <p:spPr>
          <a:xfrm>
            <a:off x="10881360" y="6510600"/>
            <a:ext cx="109656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9aa5a8"/>
                </a:solidFill>
                <a:effectLst/>
                <a:uFillTx/>
                <a:latin typeface="Courier New"/>
                <a:ea typeface="Courier New"/>
              </a:rPr>
              <a:t>1 / 5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" name="Text 14"/>
          <p:cNvSpPr/>
          <p:nvPr/>
        </p:nvSpPr>
        <p:spPr>
          <a:xfrm>
            <a:off x="457200" y="6510600"/>
            <a:ext cx="36568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9aa5a8"/>
                </a:solidFill>
                <a:effectLst/>
                <a:uFillTx/>
                <a:latin typeface="Courier New"/>
                <a:ea typeface="Courier New"/>
              </a:rPr>
              <a:t>os cookbook · CTA reference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12b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Shape 0"/>
          <p:cNvSpPr/>
          <p:nvPr/>
        </p:nvSpPr>
        <p:spPr>
          <a:xfrm>
            <a:off x="0" y="0"/>
            <a:ext cx="3931200" cy="6857280"/>
          </a:xfrm>
          <a:prstGeom prst="rect">
            <a:avLst/>
          </a:prstGeom>
          <a:solidFill>
            <a:srgbClr val="2b383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" name="Text 1"/>
          <p:cNvSpPr/>
          <p:nvPr/>
        </p:nvSpPr>
        <p:spPr>
          <a:xfrm>
            <a:off x="457200" y="502920"/>
            <a:ext cx="2742480" cy="100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5400" b="1" u="none" strike="noStrike">
                <a:solidFill>
                  <a:srgbClr val="3e4e52"/>
                </a:solidFill>
                <a:effectLst/>
                <a:uFillTx/>
                <a:latin typeface="Bookman Old Style"/>
                <a:ea typeface="Bookman Old Style"/>
              </a:rPr>
              <a:t>02</a:t>
            </a:r>
            <a:endParaRPr lang="en-US" sz="5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" name="Shape 2"/>
          <p:cNvSpPr/>
          <p:nvPr/>
        </p:nvSpPr>
        <p:spPr>
          <a:xfrm>
            <a:off x="457200" y="1600200"/>
            <a:ext cx="3016800" cy="913680"/>
          </a:xfrm>
          <a:prstGeom prst="roundRect">
            <a:avLst>
              <a:gd name="adj" fmla="val 8000"/>
            </a:avLst>
          </a:prstGeom>
          <a:solidFill>
            <a:srgbClr val="1a2427"/>
          </a:solidFill>
          <a:ln w="12700">
            <a:solidFill>
              <a:srgbClr val="3e4e5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" name="Shape 3"/>
          <p:cNvSpPr/>
          <p:nvPr/>
        </p:nvSpPr>
        <p:spPr>
          <a:xfrm>
            <a:off x="640080" y="1737360"/>
            <a:ext cx="118080" cy="118080"/>
          </a:xfrm>
          <a:prstGeom prst="ellipse">
            <a:avLst/>
          </a:prstGeom>
          <a:solidFill>
            <a:srgbClr val="ff5f5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38880" bIns="3888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" name="Shape 4"/>
          <p:cNvSpPr/>
          <p:nvPr/>
        </p:nvSpPr>
        <p:spPr>
          <a:xfrm>
            <a:off x="841320" y="1737360"/>
            <a:ext cx="118080" cy="118080"/>
          </a:xfrm>
          <a:prstGeom prst="ellipse">
            <a:avLst/>
          </a:prstGeom>
          <a:solidFill>
            <a:srgbClr val="ffbd2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38880" bIns="3888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Shape 5"/>
          <p:cNvSpPr/>
          <p:nvPr/>
        </p:nvSpPr>
        <p:spPr>
          <a:xfrm>
            <a:off x="1042560" y="1737360"/>
            <a:ext cx="118080" cy="118080"/>
          </a:xfrm>
          <a:prstGeom prst="ellipse">
            <a:avLst/>
          </a:prstGeom>
          <a:solidFill>
            <a:srgbClr val="27c93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38880" bIns="3888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Text 6"/>
          <p:cNvSpPr/>
          <p:nvPr/>
        </p:nvSpPr>
        <p:spPr>
          <a:xfrm>
            <a:off x="594360" y="1965960"/>
            <a:ext cx="388584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500" b="1" u="none" strike="noStrike">
                <a:solidFill>
                  <a:srgbClr val="00e676"/>
                </a:solidFill>
                <a:effectLst/>
                <a:uFillTx/>
                <a:latin typeface="Courier New"/>
                <a:ea typeface="Courier New"/>
              </a:rPr>
              <a:t>grep -oE flag pattern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br>
              <a:rPr sz="1500"/>
            </a:b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" name="Text 7"/>
          <p:cNvSpPr/>
          <p:nvPr/>
        </p:nvSpPr>
        <p:spPr>
          <a:xfrm>
            <a:off x="457200" y="2743200"/>
            <a:ext cx="3016800" cy="2376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0" u="none" strike="noStrike">
                <a:solidFill>
                  <a:srgbClr val="9aa5a8"/>
                </a:solidFill>
                <a:effectLst/>
                <a:uFillTx/>
                <a:latin typeface="Calibri"/>
                <a:ea typeface="Calibri"/>
              </a:rPr>
              <a:t>Locating a CTF flag in terminal output and submitting it cleanly.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" name="Text 8"/>
          <p:cNvSpPr/>
          <p:nvPr/>
        </p:nvSpPr>
        <p:spPr>
          <a:xfrm>
            <a:off x="4480560" y="548640"/>
            <a:ext cx="715896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200" b="1" u="none" strike="noStrike">
                <a:solidFill>
                  <a:srgbClr val="ededed"/>
                </a:solidFill>
                <a:effectLst/>
                <a:uFillTx/>
                <a:latin typeface="Bookman Old Style"/>
                <a:ea typeface="Bookman Old Style"/>
              </a:rPr>
              <a:t>Md5sum hash (CTF flag hashes)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" name="Text 9"/>
          <p:cNvSpPr/>
          <p:nvPr/>
        </p:nvSpPr>
        <p:spPr>
          <a:xfrm>
            <a:off x="4480560" y="1188720"/>
            <a:ext cx="7158960" cy="411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ededed"/>
              </a:buClr>
              <a:buFont typeface="Wingdings 3" charset="2"/>
              <a:buChar char=""/>
            </a:pPr>
            <a:r>
              <a:rPr lang="en-US" sz="1500" b="0" u="none" strike="noStrike">
                <a:solidFill>
                  <a:srgbClr val="ededed"/>
                </a:solidFill>
                <a:effectLst/>
                <a:uFillTx/>
                <a:latin typeface="Calibri"/>
                <a:ea typeface="Calibri"/>
              </a:rPr>
              <a:t>Flags are typically 32-char hex (MD5), sometimes wrapped as flag{...} — check the platform's exact required format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ededed"/>
              </a:buClr>
              <a:buFont typeface="Wingdings 3" charset="2"/>
              <a:buChar char=""/>
            </a:pPr>
            <a:r>
              <a:rPr lang="en-US" sz="1500" b="0" u="none" strike="noStrike">
                <a:solidFill>
                  <a:srgbClr val="ededed"/>
                </a:solidFill>
                <a:effectLst/>
                <a:uFillTx/>
                <a:latin typeface="Calibri"/>
                <a:ea typeface="Calibri"/>
              </a:rPr>
              <a:t>Don't trust length alone; confirm with a nearby label ("flag", "success") since other hashes (checksums, tokens) can look identical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ededed"/>
              </a:buClr>
              <a:buFont typeface="Wingdings 3" charset="2"/>
              <a:buChar char=""/>
            </a:pPr>
            <a:r>
              <a:rPr lang="en-US" sz="1500" b="0" u="none" strike="noStrike">
                <a:solidFill>
                  <a:srgbClr val="ededed"/>
                </a:solidFill>
                <a:effectLst/>
                <a:uFillTx/>
                <a:latin typeface="Calibri"/>
                <a:ea typeface="Calibri"/>
              </a:rPr>
              <a:t>Select and copy carefully — no trailing whitespace or newline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ededed"/>
              </a:buClr>
              <a:buFont typeface="Wingdings 3" charset="2"/>
              <a:buChar char=""/>
            </a:pPr>
            <a:r>
              <a:rPr lang="en-US" sz="1500" b="0" u="none" strike="noStrike">
                <a:solidFill>
                  <a:srgbClr val="ededed"/>
                </a:solidFill>
                <a:effectLst/>
                <a:uFillTx/>
                <a:latin typeface="Calibri"/>
                <a:ea typeface="Calibri"/>
              </a:rPr>
              <a:t>Paste into a scratch field first to verify before pasting into the real submission box, then confirm you're on the correct challenge tab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" name="Shape 10"/>
          <p:cNvSpPr/>
          <p:nvPr/>
        </p:nvSpPr>
        <p:spPr>
          <a:xfrm>
            <a:off x="4480560" y="5577840"/>
            <a:ext cx="7158960" cy="776520"/>
          </a:xfrm>
          <a:prstGeom prst="roundRect">
            <a:avLst>
              <a:gd name="adj" fmla="val 9412"/>
            </a:avLst>
          </a:prstGeom>
          <a:solidFill>
            <a:srgbClr val="2b383c"/>
          </a:solidFill>
          <a:ln w="12700">
            <a:solidFill>
              <a:srgbClr val="3e4e5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" name="Text 11"/>
          <p:cNvSpPr/>
          <p:nvPr/>
        </p:nvSpPr>
        <p:spPr>
          <a:xfrm>
            <a:off x="4709160" y="5577840"/>
            <a:ext cx="1462320" cy="77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u="none" strike="noStrike">
                <a:solidFill>
                  <a:srgbClr val="9aa5a8"/>
                </a:solidFill>
                <a:effectLst/>
                <a:uFillTx/>
                <a:latin typeface="Calibri"/>
                <a:ea typeface="Calibri"/>
              </a:rPr>
              <a:t>Full CTA →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" name="Text 12">
            <a:hlinkClick r:id="rId1"/>
          </p:cNvPr>
          <p:cNvSpPr/>
          <p:nvPr/>
        </p:nvSpPr>
        <p:spPr>
          <a:xfrm>
            <a:off x="6035040" y="5577840"/>
            <a:ext cx="5421600" cy="77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u="sng" strike="noStrike">
                <a:solidFill>
                  <a:srgbClr val="0563c1"/>
                </a:solidFill>
                <a:effectLst/>
                <a:uFillTx/>
                <a:latin typeface="Courier New"/>
                <a:ea typeface="Courier New"/>
                <a:hlinkClick r:id="rId2"/>
              </a:rPr>
              <a:t>cta.finding-and-using-flags.md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" name="Text 13"/>
          <p:cNvSpPr/>
          <p:nvPr/>
        </p:nvSpPr>
        <p:spPr>
          <a:xfrm>
            <a:off x="10881360" y="6510600"/>
            <a:ext cx="109656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9aa5a8"/>
                </a:solidFill>
                <a:effectLst/>
                <a:uFillTx/>
                <a:latin typeface="Courier New"/>
                <a:ea typeface="Courier New"/>
              </a:rPr>
              <a:t>2 / 5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" name="Text 14"/>
          <p:cNvSpPr/>
          <p:nvPr/>
        </p:nvSpPr>
        <p:spPr>
          <a:xfrm>
            <a:off x="457200" y="6510600"/>
            <a:ext cx="36568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9aa5a8"/>
                </a:solidFill>
                <a:effectLst/>
                <a:uFillTx/>
                <a:latin typeface="Courier New"/>
                <a:ea typeface="Courier New"/>
              </a:rPr>
              <a:t>os cookbook · CTA reference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" name=""/>
          <p:cNvSpPr/>
          <p:nvPr/>
        </p:nvSpPr>
        <p:spPr>
          <a:xfrm>
            <a:off x="594360" y="2207160"/>
            <a:ext cx="3838680" cy="306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1050" b="1" u="none" strike="noStrike">
                <a:solidFill>
                  <a:srgbClr val="00e676"/>
                </a:solidFill>
                <a:effectLst/>
                <a:uFillTx/>
                <a:latin typeface="Courier New"/>
                <a:ea typeface="Courier New"/>
              </a:rPr>
              <a:t>03c7c0ace395d80182db07ae2c30f034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12b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Shape 0"/>
          <p:cNvSpPr/>
          <p:nvPr/>
        </p:nvSpPr>
        <p:spPr>
          <a:xfrm>
            <a:off x="0" y="0"/>
            <a:ext cx="3931200" cy="6857280"/>
          </a:xfrm>
          <a:prstGeom prst="rect">
            <a:avLst/>
          </a:prstGeom>
          <a:solidFill>
            <a:srgbClr val="2b383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8" name="Text 1"/>
          <p:cNvSpPr/>
          <p:nvPr/>
        </p:nvSpPr>
        <p:spPr>
          <a:xfrm>
            <a:off x="457200" y="502920"/>
            <a:ext cx="2742480" cy="100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5400" b="1" u="none" strike="noStrike">
                <a:solidFill>
                  <a:srgbClr val="3e4e52"/>
                </a:solidFill>
                <a:effectLst/>
                <a:uFillTx/>
                <a:latin typeface="Bookman Old Style"/>
                <a:ea typeface="Bookman Old Style"/>
              </a:rPr>
              <a:t>03</a:t>
            </a:r>
            <a:endParaRPr lang="en-US" sz="5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" name="Shape 2"/>
          <p:cNvSpPr/>
          <p:nvPr/>
        </p:nvSpPr>
        <p:spPr>
          <a:xfrm>
            <a:off x="457200" y="1600200"/>
            <a:ext cx="3016800" cy="913680"/>
          </a:xfrm>
          <a:prstGeom prst="roundRect">
            <a:avLst>
              <a:gd name="adj" fmla="val 8000"/>
            </a:avLst>
          </a:prstGeom>
          <a:solidFill>
            <a:srgbClr val="1a2427"/>
          </a:solidFill>
          <a:ln w="12700">
            <a:solidFill>
              <a:srgbClr val="3e4e5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0" name="Shape 3"/>
          <p:cNvSpPr/>
          <p:nvPr/>
        </p:nvSpPr>
        <p:spPr>
          <a:xfrm>
            <a:off x="640080" y="1737360"/>
            <a:ext cx="118080" cy="118080"/>
          </a:xfrm>
          <a:prstGeom prst="ellipse">
            <a:avLst/>
          </a:prstGeom>
          <a:solidFill>
            <a:srgbClr val="ff5f5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38880" bIns="3888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" name="Shape 4"/>
          <p:cNvSpPr/>
          <p:nvPr/>
        </p:nvSpPr>
        <p:spPr>
          <a:xfrm>
            <a:off x="841320" y="1737360"/>
            <a:ext cx="118080" cy="118080"/>
          </a:xfrm>
          <a:prstGeom prst="ellipse">
            <a:avLst/>
          </a:prstGeom>
          <a:solidFill>
            <a:srgbClr val="ffbd2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38880" bIns="3888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Shape 5"/>
          <p:cNvSpPr/>
          <p:nvPr/>
        </p:nvSpPr>
        <p:spPr>
          <a:xfrm>
            <a:off x="1042560" y="1737360"/>
            <a:ext cx="118080" cy="118080"/>
          </a:xfrm>
          <a:prstGeom prst="ellipse">
            <a:avLst/>
          </a:prstGeom>
          <a:solidFill>
            <a:srgbClr val="27c93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38880" bIns="3888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Text 6"/>
          <p:cNvSpPr/>
          <p:nvPr/>
        </p:nvSpPr>
        <p:spPr>
          <a:xfrm>
            <a:off x="594360" y="1965960"/>
            <a:ext cx="274248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500" b="1" u="none" strike="noStrike">
                <a:solidFill>
                  <a:srgbClr val="00e676"/>
                </a:solidFill>
                <a:effectLst/>
                <a:uFillTx/>
                <a:latin typeface="Courier New"/>
                <a:ea typeface="Courier New"/>
              </a:rPr>
              <a:t>cat filename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" name="Text 7"/>
          <p:cNvSpPr/>
          <p:nvPr/>
        </p:nvSpPr>
        <p:spPr>
          <a:xfrm>
            <a:off x="457200" y="2743200"/>
            <a:ext cx="3016800" cy="2376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0" u="none" strike="noStrike">
                <a:solidFill>
                  <a:srgbClr val="9aa5a8"/>
                </a:solidFill>
                <a:effectLst/>
                <a:uFillTx/>
                <a:latin typeface="Calibri"/>
                <a:ea typeface="Calibri"/>
              </a:rPr>
              <a:t>Printing a file's contents straight to the terminal.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" name="Text 8"/>
          <p:cNvSpPr/>
          <p:nvPr/>
        </p:nvSpPr>
        <p:spPr>
          <a:xfrm>
            <a:off x="4480560" y="548640"/>
            <a:ext cx="715896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200" b="1" u="none" strike="noStrike">
                <a:solidFill>
                  <a:srgbClr val="ededed"/>
                </a:solidFill>
                <a:effectLst/>
                <a:uFillTx/>
                <a:latin typeface="Bookman Old Style"/>
                <a:ea typeface="Bookman Old Style"/>
              </a:rPr>
              <a:t>Printing the contents of a file with cat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6" name="Text 9"/>
          <p:cNvSpPr/>
          <p:nvPr/>
        </p:nvSpPr>
        <p:spPr>
          <a:xfrm>
            <a:off x="4480560" y="1188720"/>
            <a:ext cx="7158960" cy="411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ededed"/>
              </a:buClr>
              <a:buFont typeface="Wingdings 3" charset="2"/>
              <a:buChar char=""/>
            </a:pPr>
            <a:r>
              <a:rPr lang="en-US" sz="1500" b="0" u="none" strike="noStrike">
                <a:solidFill>
                  <a:srgbClr val="ededed"/>
                </a:solidFill>
                <a:effectLst/>
                <a:uFillTx/>
                <a:latin typeface="Calibri"/>
                <a:ea typeface="Calibri"/>
              </a:rPr>
              <a:t>Confirm the exact filename/path first — cat filename (or the full path if not in the current directory)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ededed"/>
              </a:buClr>
              <a:buFont typeface="Wingdings 3" charset="2"/>
              <a:buChar char=""/>
            </a:pPr>
            <a:r>
              <a:rPr lang="en-US" sz="1500" b="0" u="none" strike="noStrike">
                <a:solidFill>
                  <a:srgbClr val="ededed"/>
                </a:solidFill>
                <a:effectLst/>
                <a:uFillTx/>
                <a:latin typeface="Calibri"/>
                <a:ea typeface="Calibri"/>
              </a:rPr>
              <a:t>"No such file or directory" → re-list with ls to re-ground your mental model, don't just retype and hope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ededed"/>
              </a:buClr>
              <a:buFont typeface="Wingdings 3" charset="2"/>
              <a:buChar char=""/>
            </a:pPr>
            <a:r>
              <a:rPr lang="en-US" sz="1500" b="0" u="none" strike="noStrike">
                <a:solidFill>
                  <a:srgbClr val="ededed"/>
                </a:solidFill>
                <a:effectLst/>
                <a:uFillTx/>
                <a:latin typeface="Calibri"/>
                <a:ea typeface="Calibri"/>
              </a:rPr>
              <a:t>"Permission denied" → check why with ls -l before reflexively reaching for sudo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ededed"/>
              </a:buClr>
              <a:buFont typeface="Wingdings 3" charset="2"/>
              <a:buChar char=""/>
            </a:pPr>
            <a:r>
              <a:rPr lang="en-US" sz="1500" b="0" u="none" strike="noStrike">
                <a:solidFill>
                  <a:srgbClr val="ededed"/>
                </a:solidFill>
                <a:effectLst/>
                <a:uFillTx/>
                <a:latin typeface="Calibri"/>
                <a:ea typeface="Calibri"/>
              </a:rPr>
              <a:t>Verify the full output is visible — long files can scroll past the buffer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7" name="Shape 10"/>
          <p:cNvSpPr/>
          <p:nvPr/>
        </p:nvSpPr>
        <p:spPr>
          <a:xfrm>
            <a:off x="4480560" y="5577840"/>
            <a:ext cx="7158960" cy="776520"/>
          </a:xfrm>
          <a:prstGeom prst="roundRect">
            <a:avLst>
              <a:gd name="adj" fmla="val 9412"/>
            </a:avLst>
          </a:prstGeom>
          <a:solidFill>
            <a:srgbClr val="2b383c"/>
          </a:solidFill>
          <a:ln w="12700">
            <a:solidFill>
              <a:srgbClr val="3e4e5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8" name="Text 11"/>
          <p:cNvSpPr/>
          <p:nvPr/>
        </p:nvSpPr>
        <p:spPr>
          <a:xfrm>
            <a:off x="4709160" y="5577840"/>
            <a:ext cx="1462320" cy="77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u="none" strike="noStrike">
                <a:solidFill>
                  <a:srgbClr val="9aa5a8"/>
                </a:solidFill>
                <a:effectLst/>
                <a:uFillTx/>
                <a:latin typeface="Calibri"/>
                <a:ea typeface="Calibri"/>
              </a:rPr>
              <a:t>Full CTA →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" name="Text 12">
            <a:hlinkClick r:id="rId1"/>
          </p:cNvPr>
          <p:cNvSpPr/>
          <p:nvPr/>
        </p:nvSpPr>
        <p:spPr>
          <a:xfrm>
            <a:off x="6035040" y="5577840"/>
            <a:ext cx="5421600" cy="77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u="sng" strike="noStrike">
                <a:solidFill>
                  <a:srgbClr val="0563c1"/>
                </a:solidFill>
                <a:effectLst/>
                <a:uFillTx/>
                <a:latin typeface="Courier New"/>
                <a:ea typeface="Courier New"/>
                <a:hlinkClick r:id="rId2"/>
              </a:rPr>
              <a:t>cta.cat-is-cat.md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0" name="Text 13"/>
          <p:cNvSpPr/>
          <p:nvPr/>
        </p:nvSpPr>
        <p:spPr>
          <a:xfrm>
            <a:off x="10881360" y="6510600"/>
            <a:ext cx="109656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9aa5a8"/>
                </a:solidFill>
                <a:effectLst/>
                <a:uFillTx/>
                <a:latin typeface="Courier New"/>
                <a:ea typeface="Courier New"/>
              </a:rPr>
              <a:t>3 / 5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1" name="Text 14"/>
          <p:cNvSpPr/>
          <p:nvPr/>
        </p:nvSpPr>
        <p:spPr>
          <a:xfrm>
            <a:off x="457200" y="6510600"/>
            <a:ext cx="36568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9aa5a8"/>
                </a:solidFill>
                <a:effectLst/>
                <a:uFillTx/>
                <a:latin typeface="Courier New"/>
                <a:ea typeface="Courier New"/>
              </a:rPr>
              <a:t>os cookbook · CTA reference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12b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Shape 0"/>
          <p:cNvSpPr/>
          <p:nvPr/>
        </p:nvSpPr>
        <p:spPr>
          <a:xfrm>
            <a:off x="0" y="0"/>
            <a:ext cx="3931200" cy="6857280"/>
          </a:xfrm>
          <a:prstGeom prst="rect">
            <a:avLst/>
          </a:prstGeom>
          <a:solidFill>
            <a:srgbClr val="2b383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" name="Text 1"/>
          <p:cNvSpPr/>
          <p:nvPr/>
        </p:nvSpPr>
        <p:spPr>
          <a:xfrm>
            <a:off x="457200" y="502920"/>
            <a:ext cx="2742480" cy="100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5400" b="1" u="none" strike="noStrike">
                <a:solidFill>
                  <a:srgbClr val="3e4e52"/>
                </a:solidFill>
                <a:effectLst/>
                <a:uFillTx/>
                <a:latin typeface="Bookman Old Style"/>
                <a:ea typeface="Bookman Old Style"/>
              </a:rPr>
              <a:t>04</a:t>
            </a:r>
            <a:endParaRPr lang="en-US" sz="5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" name="Shape 2"/>
          <p:cNvSpPr/>
          <p:nvPr/>
        </p:nvSpPr>
        <p:spPr>
          <a:xfrm>
            <a:off x="457200" y="1600200"/>
            <a:ext cx="3016800" cy="913680"/>
          </a:xfrm>
          <a:prstGeom prst="roundRect">
            <a:avLst>
              <a:gd name="adj" fmla="val 8000"/>
            </a:avLst>
          </a:prstGeom>
          <a:solidFill>
            <a:srgbClr val="1a2427"/>
          </a:solidFill>
          <a:ln w="12700">
            <a:solidFill>
              <a:srgbClr val="3e4e5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5" name="Shape 3"/>
          <p:cNvSpPr/>
          <p:nvPr/>
        </p:nvSpPr>
        <p:spPr>
          <a:xfrm>
            <a:off x="640080" y="1737360"/>
            <a:ext cx="118080" cy="118080"/>
          </a:xfrm>
          <a:prstGeom prst="ellipse">
            <a:avLst/>
          </a:prstGeom>
          <a:solidFill>
            <a:srgbClr val="ff5f5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38880" bIns="3888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6" name="Shape 4"/>
          <p:cNvSpPr/>
          <p:nvPr/>
        </p:nvSpPr>
        <p:spPr>
          <a:xfrm>
            <a:off x="841320" y="1737360"/>
            <a:ext cx="118080" cy="118080"/>
          </a:xfrm>
          <a:prstGeom prst="ellipse">
            <a:avLst/>
          </a:prstGeom>
          <a:solidFill>
            <a:srgbClr val="ffbd2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38880" bIns="3888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Shape 5"/>
          <p:cNvSpPr/>
          <p:nvPr/>
        </p:nvSpPr>
        <p:spPr>
          <a:xfrm>
            <a:off x="1042560" y="1737360"/>
            <a:ext cx="118080" cy="118080"/>
          </a:xfrm>
          <a:prstGeom prst="ellipse">
            <a:avLst/>
          </a:prstGeom>
          <a:solidFill>
            <a:srgbClr val="27c93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38880" bIns="3888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Text 6"/>
          <p:cNvSpPr/>
          <p:nvPr/>
        </p:nvSpPr>
        <p:spPr>
          <a:xfrm>
            <a:off x="594360" y="1965960"/>
            <a:ext cx="274248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500" b="1" u="none" strike="noStrike">
                <a:solidFill>
                  <a:srgbClr val="00e676"/>
                </a:solidFill>
                <a:effectLst/>
                <a:uFillTx/>
                <a:latin typeface="Courier New"/>
                <a:ea typeface="Courier New"/>
              </a:rPr>
              <a:t>7z x archive.7z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9" name="Text 7"/>
          <p:cNvSpPr/>
          <p:nvPr/>
        </p:nvSpPr>
        <p:spPr>
          <a:xfrm>
            <a:off x="457200" y="2743200"/>
            <a:ext cx="3016800" cy="2376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0" u="none" strike="noStrike">
                <a:solidFill>
                  <a:srgbClr val="9aa5a8"/>
                </a:solidFill>
                <a:effectLst/>
                <a:uFillTx/>
                <a:latin typeface="Calibri"/>
                <a:ea typeface="Calibri"/>
              </a:rPr>
              <a:t>Extracting a compressed archive so its contents become usable.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0" name="Text 8"/>
          <p:cNvSpPr/>
          <p:nvPr/>
        </p:nvSpPr>
        <p:spPr>
          <a:xfrm>
            <a:off x="4480560" y="548640"/>
            <a:ext cx="715896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200" b="1" u="none" strike="noStrike">
                <a:solidFill>
                  <a:srgbClr val="ededed"/>
                </a:solidFill>
                <a:effectLst/>
                <a:uFillTx/>
                <a:latin typeface="Bookman Old Style"/>
                <a:ea typeface="Bookman Old Style"/>
              </a:rPr>
              <a:t>Extracting files with 7zip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1" name="Text 9"/>
          <p:cNvSpPr/>
          <p:nvPr/>
        </p:nvSpPr>
        <p:spPr>
          <a:xfrm>
            <a:off x="4480560" y="1188720"/>
            <a:ext cx="7158960" cy="411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ededed"/>
              </a:buClr>
              <a:buFont typeface="Wingdings 3" charset="2"/>
              <a:buChar char=""/>
            </a:pPr>
            <a:r>
              <a:rPr lang="en-US" sz="1500" b="0" u="none" strike="noStrike">
                <a:solidFill>
                  <a:srgbClr val="ededed"/>
                </a:solidFill>
                <a:effectLst/>
                <a:uFillTx/>
                <a:latin typeface="Calibri"/>
                <a:ea typeface="Calibri"/>
              </a:rPr>
              <a:t>List before you extract: 7z l archive.7z previews contents and avoids surprises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ededed"/>
              </a:buClr>
              <a:buFont typeface="Wingdings 3" charset="2"/>
              <a:buChar char=""/>
            </a:pPr>
            <a:r>
              <a:rPr lang="en-US" sz="1500" b="0" u="none" strike="noStrike">
                <a:solidFill>
                  <a:srgbClr val="ededed"/>
                </a:solidFill>
                <a:effectLst/>
                <a:uFillTx/>
                <a:latin typeface="Calibri"/>
                <a:ea typeface="Calibri"/>
              </a:rPr>
              <a:t>x preserves folder structure, e flattens everything — pick based on whether structure matters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ededed"/>
              </a:buClr>
              <a:buFont typeface="Wingdings 3" charset="2"/>
              <a:buChar char=""/>
            </a:pPr>
            <a:r>
              <a:rPr lang="en-US" sz="1500" b="0" u="none" strike="noStrike">
                <a:solidFill>
                  <a:srgbClr val="ededed"/>
                </a:solidFill>
                <a:effectLst/>
                <a:uFillTx/>
                <a:latin typeface="Calibri"/>
                <a:ea typeface="Calibri"/>
              </a:rPr>
              <a:t>Use -o&lt;dir&gt; to land files in a clean folder instead of cluttering the current one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ededed"/>
              </a:buClr>
              <a:buFont typeface="Wingdings 3" charset="2"/>
              <a:buChar char=""/>
            </a:pPr>
            <a:r>
              <a:rPr lang="en-US" sz="1500" b="0" u="none" strike="noStrike">
                <a:solidFill>
                  <a:srgbClr val="ededed"/>
                </a:solidFill>
                <a:effectLst/>
                <a:uFillTx/>
                <a:latin typeface="Calibri"/>
                <a:ea typeface="Calibri"/>
              </a:rPr>
              <a:t>If prompted for a password, check the task context for a hint before jumping to brute force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ededed"/>
              </a:buClr>
              <a:buFont typeface="Wingdings 3" charset="2"/>
              <a:buChar char=""/>
            </a:pPr>
            <a:r>
              <a:rPr lang="en-US" sz="1500" b="0" u="none" strike="noStrike">
                <a:solidFill>
                  <a:srgbClr val="ededed"/>
                </a:solidFill>
                <a:effectLst/>
                <a:uFillTx/>
                <a:latin typeface="Calibri"/>
                <a:ea typeface="Calibri"/>
              </a:rPr>
              <a:t>Watch the output for "Wrong password" / "CRC failed" — then confirm with ls that the expected file actually landed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2" name="Shape 10"/>
          <p:cNvSpPr/>
          <p:nvPr/>
        </p:nvSpPr>
        <p:spPr>
          <a:xfrm>
            <a:off x="4480560" y="5577840"/>
            <a:ext cx="7158960" cy="776520"/>
          </a:xfrm>
          <a:prstGeom prst="roundRect">
            <a:avLst>
              <a:gd name="adj" fmla="val 9412"/>
            </a:avLst>
          </a:prstGeom>
          <a:solidFill>
            <a:srgbClr val="2b383c"/>
          </a:solidFill>
          <a:ln w="12700">
            <a:solidFill>
              <a:srgbClr val="3e4e5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3" name="Text 11"/>
          <p:cNvSpPr/>
          <p:nvPr/>
        </p:nvSpPr>
        <p:spPr>
          <a:xfrm>
            <a:off x="4709160" y="5577840"/>
            <a:ext cx="1462320" cy="77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u="none" strike="noStrike">
                <a:solidFill>
                  <a:srgbClr val="9aa5a8"/>
                </a:solidFill>
                <a:effectLst/>
                <a:uFillTx/>
                <a:latin typeface="Calibri"/>
                <a:ea typeface="Calibri"/>
              </a:rPr>
              <a:t>Full CTA →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4" name="Text 12">
            <a:hlinkClick r:id="rId1"/>
          </p:cNvPr>
          <p:cNvSpPr/>
          <p:nvPr/>
        </p:nvSpPr>
        <p:spPr>
          <a:xfrm>
            <a:off x="6035040" y="5577840"/>
            <a:ext cx="5421600" cy="77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u="sng" strike="noStrike">
                <a:solidFill>
                  <a:srgbClr val="0563c1"/>
                </a:solidFill>
                <a:effectLst/>
                <a:uFillTx/>
                <a:latin typeface="Courier New"/>
                <a:ea typeface="Courier New"/>
                <a:hlinkClick r:id="rId2"/>
              </a:rPr>
              <a:t>cat.using-7z.md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5" name="Text 13"/>
          <p:cNvSpPr/>
          <p:nvPr/>
        </p:nvSpPr>
        <p:spPr>
          <a:xfrm>
            <a:off x="10881360" y="6510600"/>
            <a:ext cx="109656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9aa5a8"/>
                </a:solidFill>
                <a:effectLst/>
                <a:uFillTx/>
                <a:latin typeface="Courier New"/>
                <a:ea typeface="Courier New"/>
              </a:rPr>
              <a:t>4 / 5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6" name="Text 14"/>
          <p:cNvSpPr/>
          <p:nvPr/>
        </p:nvSpPr>
        <p:spPr>
          <a:xfrm>
            <a:off x="457200" y="6510600"/>
            <a:ext cx="36568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9aa5a8"/>
                </a:solidFill>
                <a:effectLst/>
                <a:uFillTx/>
                <a:latin typeface="Courier New"/>
                <a:ea typeface="Courier New"/>
              </a:rPr>
              <a:t>os cookbook · CTA reference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12b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Shape 0"/>
          <p:cNvSpPr/>
          <p:nvPr/>
        </p:nvSpPr>
        <p:spPr>
          <a:xfrm>
            <a:off x="0" y="0"/>
            <a:ext cx="3931200" cy="6857280"/>
          </a:xfrm>
          <a:prstGeom prst="rect">
            <a:avLst/>
          </a:prstGeom>
          <a:solidFill>
            <a:srgbClr val="2b383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8" name="Text 1"/>
          <p:cNvSpPr/>
          <p:nvPr/>
        </p:nvSpPr>
        <p:spPr>
          <a:xfrm>
            <a:off x="457200" y="502920"/>
            <a:ext cx="2742480" cy="100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5400" b="1" u="none" strike="noStrike">
                <a:solidFill>
                  <a:srgbClr val="3e4e52"/>
                </a:solidFill>
                <a:effectLst/>
                <a:uFillTx/>
                <a:latin typeface="Bookman Old Style"/>
                <a:ea typeface="Bookman Old Style"/>
              </a:rPr>
              <a:t>05</a:t>
            </a:r>
            <a:endParaRPr lang="en-US" sz="5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9" name="Shape 2"/>
          <p:cNvSpPr/>
          <p:nvPr/>
        </p:nvSpPr>
        <p:spPr>
          <a:xfrm>
            <a:off x="457200" y="1600200"/>
            <a:ext cx="3016800" cy="913680"/>
          </a:xfrm>
          <a:prstGeom prst="roundRect">
            <a:avLst>
              <a:gd name="adj" fmla="val 8000"/>
            </a:avLst>
          </a:prstGeom>
          <a:solidFill>
            <a:srgbClr val="1a2427"/>
          </a:solidFill>
          <a:ln w="12700">
            <a:solidFill>
              <a:srgbClr val="3e4e5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0" name="Shape 3"/>
          <p:cNvSpPr/>
          <p:nvPr/>
        </p:nvSpPr>
        <p:spPr>
          <a:xfrm>
            <a:off x="640080" y="1737360"/>
            <a:ext cx="118080" cy="118080"/>
          </a:xfrm>
          <a:prstGeom prst="ellipse">
            <a:avLst/>
          </a:prstGeom>
          <a:solidFill>
            <a:srgbClr val="ff5f5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38880" bIns="3888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1" name="Shape 4"/>
          <p:cNvSpPr/>
          <p:nvPr/>
        </p:nvSpPr>
        <p:spPr>
          <a:xfrm>
            <a:off x="841320" y="1737360"/>
            <a:ext cx="118080" cy="118080"/>
          </a:xfrm>
          <a:prstGeom prst="ellipse">
            <a:avLst/>
          </a:prstGeom>
          <a:solidFill>
            <a:srgbClr val="ffbd2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38880" bIns="3888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Shape 5"/>
          <p:cNvSpPr/>
          <p:nvPr/>
        </p:nvSpPr>
        <p:spPr>
          <a:xfrm>
            <a:off x="1042560" y="1737360"/>
            <a:ext cx="118080" cy="118080"/>
          </a:xfrm>
          <a:prstGeom prst="ellipse">
            <a:avLst/>
          </a:prstGeom>
          <a:solidFill>
            <a:srgbClr val="27c93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38880" bIns="3888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Text 6"/>
          <p:cNvSpPr/>
          <p:nvPr/>
        </p:nvSpPr>
        <p:spPr>
          <a:xfrm>
            <a:off x="594360" y="1965960"/>
            <a:ext cx="274248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500" b="1" u="none" strike="noStrike">
                <a:solidFill>
                  <a:srgbClr val="00e676"/>
                </a:solidFill>
                <a:effectLst/>
                <a:uFillTx/>
                <a:latin typeface="Courier New"/>
                <a:ea typeface="Courier New"/>
              </a:rPr>
              <a:t>scp user@host:/path ./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4" name="Text 7"/>
          <p:cNvSpPr/>
          <p:nvPr/>
        </p:nvSpPr>
        <p:spPr>
          <a:xfrm>
            <a:off x="457200" y="2743200"/>
            <a:ext cx="3016800" cy="2376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0" u="none" strike="noStrike">
                <a:solidFill>
                  <a:srgbClr val="9aa5a8"/>
                </a:solidFill>
                <a:effectLst/>
                <a:uFillTx/>
                <a:latin typeface="Calibri"/>
                <a:ea typeface="Calibri"/>
              </a:rPr>
              <a:t>Downloading a file from a remote server to the local machine.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5" name="Text 8"/>
          <p:cNvSpPr/>
          <p:nvPr/>
        </p:nvSpPr>
        <p:spPr>
          <a:xfrm>
            <a:off x="4480560" y="548640"/>
            <a:ext cx="715896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200" b="1" u="none" strike="noStrike">
                <a:solidFill>
                  <a:srgbClr val="ededed"/>
                </a:solidFill>
                <a:effectLst/>
                <a:uFillTx/>
                <a:latin typeface="Bookman Old Style"/>
                <a:ea typeface="Bookman Old Style"/>
              </a:rPr>
              <a:t>Copying remote files to a local computer with scp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6" name="Text 9"/>
          <p:cNvSpPr/>
          <p:nvPr/>
        </p:nvSpPr>
        <p:spPr>
          <a:xfrm>
            <a:off x="4480560" y="1188720"/>
            <a:ext cx="7158960" cy="411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ededed"/>
              </a:buClr>
              <a:buFont typeface="Wingdings 3" charset="2"/>
              <a:buChar char=""/>
            </a:pPr>
            <a:r>
              <a:rPr lang="en-US" sz="1500" b="0" u="none" strike="noStrike">
                <a:solidFill>
                  <a:srgbClr val="ededed"/>
                </a:solidFill>
                <a:effectLst/>
                <a:uFillTx/>
                <a:latin typeface="Calibri"/>
                <a:ea typeface="Calibri"/>
              </a:rPr>
              <a:t>Gather user, host, and exact remote path first — syntax is scp user@host:/remote/path ./local/dest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ededed"/>
              </a:buClr>
              <a:buFont typeface="Wingdings 3" charset="2"/>
              <a:buChar char=""/>
            </a:pPr>
            <a:r>
              <a:rPr lang="en-US" sz="1500" b="0" u="none" strike="noStrike">
                <a:solidFill>
                  <a:srgbClr val="ededed"/>
                </a:solidFill>
                <a:effectLst/>
                <a:uFillTx/>
                <a:latin typeface="Calibri"/>
                <a:ea typeface="Calibri"/>
              </a:rPr>
              <a:t>Watch source/destination order — reversing it uploads instead of downloads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ededed"/>
              </a:buClr>
              <a:buFont typeface="Wingdings 3" charset="2"/>
              <a:buChar char=""/>
            </a:pPr>
            <a:r>
              <a:rPr lang="en-US" sz="1500" b="0" u="none" strike="noStrike">
                <a:solidFill>
                  <a:srgbClr val="ededed"/>
                </a:solidFill>
                <a:effectLst/>
                <a:uFillTx/>
                <a:latin typeface="Calibri"/>
                <a:ea typeface="Calibri"/>
              </a:rPr>
              <a:t>Accept/verify the host-key prompt the same way you would for a plain ssh connection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ededed"/>
              </a:buClr>
              <a:buFont typeface="Wingdings 3" charset="2"/>
              <a:buChar char=""/>
            </a:pPr>
            <a:r>
              <a:rPr lang="en-US" sz="1500" b="0" u="none" strike="noStrike">
                <a:solidFill>
                  <a:srgbClr val="ededed"/>
                </a:solidFill>
                <a:effectLst/>
                <a:uFillTx/>
                <a:latin typeface="Calibri"/>
                <a:ea typeface="Calibri"/>
              </a:rPr>
              <a:t>If the transfer stalls, isolate the cause: can you ssh into the host at all?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ededed"/>
              </a:buClr>
              <a:buFont typeface="Wingdings 3" charset="2"/>
              <a:buChar char=""/>
            </a:pPr>
            <a:r>
              <a:rPr lang="en-US" sz="1500" b="0" u="none" strike="noStrike">
                <a:solidFill>
                  <a:srgbClr val="ededed"/>
                </a:solidFill>
                <a:effectLst/>
                <a:uFillTx/>
                <a:latin typeface="Calibri"/>
                <a:ea typeface="Calibri"/>
              </a:rPr>
              <a:t>Confirm the file arrived locally with ls — check size, not just presence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7" name="Shape 10"/>
          <p:cNvSpPr/>
          <p:nvPr/>
        </p:nvSpPr>
        <p:spPr>
          <a:xfrm>
            <a:off x="4480560" y="5577840"/>
            <a:ext cx="7158960" cy="776520"/>
          </a:xfrm>
          <a:prstGeom prst="roundRect">
            <a:avLst>
              <a:gd name="adj" fmla="val 9412"/>
            </a:avLst>
          </a:prstGeom>
          <a:solidFill>
            <a:srgbClr val="2b383c"/>
          </a:solidFill>
          <a:ln w="12700">
            <a:solidFill>
              <a:srgbClr val="3e4e5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8" name="Text 11"/>
          <p:cNvSpPr/>
          <p:nvPr/>
        </p:nvSpPr>
        <p:spPr>
          <a:xfrm>
            <a:off x="4709160" y="5577840"/>
            <a:ext cx="1462320" cy="77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u="none" strike="noStrike">
                <a:solidFill>
                  <a:srgbClr val="9aa5a8"/>
                </a:solidFill>
                <a:effectLst/>
                <a:uFillTx/>
                <a:latin typeface="Calibri"/>
                <a:ea typeface="Calibri"/>
              </a:rPr>
              <a:t>Full CTA →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9" name="Text 12">
            <a:hlinkClick r:id="rId1"/>
          </p:cNvPr>
          <p:cNvSpPr/>
          <p:nvPr/>
        </p:nvSpPr>
        <p:spPr>
          <a:xfrm>
            <a:off x="6035040" y="5577840"/>
            <a:ext cx="5421600" cy="77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u="sng" strike="noStrike">
                <a:solidFill>
                  <a:srgbClr val="0563c1"/>
                </a:solidFill>
                <a:effectLst/>
                <a:uFillTx/>
                <a:latin typeface="Courier New"/>
                <a:ea typeface="Courier New"/>
                <a:hlinkClick r:id="rId2"/>
              </a:rPr>
              <a:t>cat.copying-files-to-you-(scp).md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0" name="Text 13"/>
          <p:cNvSpPr/>
          <p:nvPr/>
        </p:nvSpPr>
        <p:spPr>
          <a:xfrm>
            <a:off x="10881360" y="6510600"/>
            <a:ext cx="109656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9aa5a8"/>
                </a:solidFill>
                <a:effectLst/>
                <a:uFillTx/>
                <a:latin typeface="Courier New"/>
                <a:ea typeface="Courier New"/>
              </a:rPr>
              <a:t>5 / 5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1" name="Text 14"/>
          <p:cNvSpPr/>
          <p:nvPr/>
        </p:nvSpPr>
        <p:spPr>
          <a:xfrm>
            <a:off x="457200" y="6510600"/>
            <a:ext cx="36568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9aa5a8"/>
                </a:solidFill>
                <a:effectLst/>
                <a:uFillTx/>
                <a:latin typeface="Courier New"/>
                <a:ea typeface="Courier New"/>
              </a:rPr>
              <a:t>os cookbook · CTA reference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134</TotalTime>
  <Application>LibreOffice/25.8.7.3$Linux_X86_64 LibreOffice_project/580$Build-3</Application>
  <AppVersion>15.0000</AppVersion>
  <Words>0</Words>
  <Paragraphs>0</Paragraphs>
  <Company>PptxGenJS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2026-07-21T02:02:53Z</dcterms:created>
  <dc:creator>PptxGenJS</dc:creator>
  <dc:description/>
  <dc:language>en-US</dc:language>
  <cp:lastModifiedBy/>
  <dcterms:modified xsi:type="dcterms:W3CDTF">2026-07-21T15:02:15Z</dcterms:modified>
  <cp:revision>3</cp:revision>
  <dc:subject>PptxGenJS Presentation</dc:subject>
  <dc:title>PptxGenJS Presentation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6</vt:i4>
  </property>
  <property fmtid="{D5CDD505-2E9C-101B-9397-08002B2CF9AE}" pid="3" name="PresentationFormat">
    <vt:lpwstr>On-screen Show (16:9)</vt:lpwstr>
  </property>
  <property fmtid="{D5CDD505-2E9C-101B-9397-08002B2CF9AE}" pid="4" name="Slides">
    <vt:i4>6</vt:i4>
  </property>
</Properties>
</file>