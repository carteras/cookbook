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960872-9002-4984-B0ED-D34D12ACDC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90BAF5-79E7-46DB-A389-8AEF7271FB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1C96BB-63F2-4D45-AC07-A3435AD19A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DE5937-6412-48B4-9A53-091FAB0D6B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5DDC6A-5097-4D87-A617-E2229C313B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F4CEA7-D23D-45EE-B6CD-38D540B88B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5EB3FA-E5FB-40C0-971C-A7B8EA063A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github.com/carteras/cookbook/blob/main/os/cta.ssh.md" TargetMode="External"/><Relationship Id="rId2" Type="http://schemas.openxmlformats.org/officeDocument/2006/relationships/hyperlink" Target="https://github.com/carteras/cookbook/blob/main/os/cta.ssh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github.com/carteras/cookbook/blob/main/os/cta.finding-and-using-flags.md" TargetMode="External"/><Relationship Id="rId2" Type="http://schemas.openxmlformats.org/officeDocument/2006/relationships/hyperlink" Target="https://github.com/carteras/cookbook/blob/main/os/cta.finding-and-using-flags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github.com/carteras/cookbook/blob/main/os/cta.cat-is-cat.md" TargetMode="External"/><Relationship Id="rId2" Type="http://schemas.openxmlformats.org/officeDocument/2006/relationships/hyperlink" Target="https://github.com/carteras/cookbook/blob/main/os/cta.cat-is-cat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carteras/cookbook/blob/main/os/cat.using-7z.md" TargetMode="External"/><Relationship Id="rId2" Type="http://schemas.openxmlformats.org/officeDocument/2006/relationships/hyperlink" Target="https://github.com/carteras/cookbook/blob/main/os/cat.using-7z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ithub.com/carteras/cookbook/blob/main/os/cat.copying-files-to-you-(scp).md" TargetMode="External"/><Relationship Id="rId2" Type="http://schemas.openxmlformats.org/officeDocument/2006/relationships/hyperlink" Target="https://github.com/carteras/cookbook/blob/main/os/cat.copying-files-to-you-(scp)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1280160" y="1417320"/>
            <a:ext cx="9600840" cy="3748680"/>
          </a:xfrm>
          <a:prstGeom prst="roundRect">
            <a:avLst>
              <a:gd name="adj" fmla="val 2927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280160" y="1417320"/>
            <a:ext cx="9600840" cy="383760"/>
          </a:xfrm>
          <a:prstGeom prst="rect">
            <a:avLst/>
          </a:prstGeom>
          <a:solidFill>
            <a:srgbClr val="1a24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508760" y="154980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710000" y="154980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1911240" y="154980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280160" y="1417320"/>
            <a:ext cx="9600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~/os-cookbook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737360" y="2194560"/>
            <a:ext cx="8686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0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Operator Basics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1737360" y="292608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00e676"/>
                </a:solidFill>
                <a:effectLst/>
                <a:uFillTx/>
                <a:latin typeface="Calibri"/>
                <a:ea typeface="Calibri"/>
              </a:rPr>
              <a:t>A Cognitive Task Analysis Walkthrough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737360" y="379476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$ ssh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474720" y="379476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$ grep flag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212080" y="379476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$ cat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949440" y="379476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$ 7z 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8686800" y="3794760"/>
            <a:ext cx="1599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$ scp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1737360" y="4389120"/>
            <a:ext cx="8686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Five foundational commands, decomposed step by step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0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3931560" cy="6857640"/>
          </a:xfrm>
          <a:prstGeom prst="rect">
            <a:avLst/>
          </a:prstGeom>
          <a:solidFill>
            <a:srgbClr val="2b3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457200" y="50292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3e4e52"/>
                </a:solidFill>
                <a:effectLst/>
                <a:uFillTx/>
                <a:latin typeface="Bookman Old Style"/>
                <a:ea typeface="Bookman Old Style"/>
              </a:rPr>
              <a:t>01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457200" y="160020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640080" y="173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841320" y="173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1042560" y="173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59436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ssh user@host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57200" y="2743200"/>
            <a:ext cx="3017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Authenticating to a remote Linux host and orienting to it before doing anything else.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4480560" y="548640"/>
            <a:ext cx="715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ssh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4480560" y="1188720"/>
            <a:ext cx="71593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Connect with ssh user@host (or the IP) — default port is 22, no -p needed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On first connection, verify then accept the host-key fingerprint (trust-on-first-use); a fingerprint that changes on a known host is the real red flag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Enter credentials, then stop and read the full MOTD banner before running commands — it often hides version info or clues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Any hash-like string found later is one-way — classify it (length, charset, prefix) before deciding whether to crack 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4480560" y="5577840"/>
            <a:ext cx="7159320" cy="77688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4709160" y="557784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Full CTA 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>
            <a:hlinkClick r:id="rId1"/>
          </p:cNvPr>
          <p:cNvSpPr/>
          <p:nvPr/>
        </p:nvSpPr>
        <p:spPr>
          <a:xfrm>
            <a:off x="6035040" y="5577840"/>
            <a:ext cx="542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sng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  <a:hlinkClick r:id="rId2"/>
              </a:rPr>
              <a:t>cta.ssh.md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1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3931560" cy="6857640"/>
          </a:xfrm>
          <a:prstGeom prst="rect">
            <a:avLst/>
          </a:prstGeom>
          <a:solidFill>
            <a:srgbClr val="2b3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50292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3e4e52"/>
                </a:solidFill>
                <a:effectLst/>
                <a:uFillTx/>
                <a:latin typeface="Bookman Old Style"/>
                <a:ea typeface="Bookman Old Style"/>
              </a:rPr>
              <a:t>02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457200" y="160020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640080" y="173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841320" y="173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/>
          <p:cNvSpPr/>
          <p:nvPr/>
        </p:nvSpPr>
        <p:spPr>
          <a:xfrm>
            <a:off x="1042560" y="173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594360" y="1965960"/>
            <a:ext cx="3886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grep -oE flag pattern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br>
              <a:rPr sz="1500"/>
            </a:b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57200" y="2743200"/>
            <a:ext cx="3017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Locating a CTF flag in terminal output and submitting it cleanly.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480560" y="548640"/>
            <a:ext cx="715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Md5sum hash (CTF flag hashes)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4480560" y="1188720"/>
            <a:ext cx="71593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Flags are typically 32-char hex (MD5), sometimes wrapped as flag{...} — check the platform's exact required format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Don't trust length alone; confirm with a nearby label ("flag", "success") since other hashes (checksums, tokens) can look identical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Select and copy carefully — no trailing whitespace or newline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Paste into a scratch field first to verify before pasting into the real submission box, then confirm you're on the correct challenge tab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"/>
          <p:cNvSpPr/>
          <p:nvPr/>
        </p:nvSpPr>
        <p:spPr>
          <a:xfrm>
            <a:off x="4480560" y="5577840"/>
            <a:ext cx="7159320" cy="77688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4709160" y="557784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Full CTA 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2">
            <a:hlinkClick r:id="rId1"/>
          </p:cNvPr>
          <p:cNvSpPr/>
          <p:nvPr/>
        </p:nvSpPr>
        <p:spPr>
          <a:xfrm>
            <a:off x="6035040" y="5577840"/>
            <a:ext cx="542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sng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  <a:hlinkClick r:id="rId2"/>
              </a:rPr>
              <a:t>cta.finding-and-using-flags.md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2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594360" y="2207160"/>
            <a:ext cx="3839040" cy="307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05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03c7c0ace395d80182db07ae2c30f034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3931560" cy="6857640"/>
          </a:xfrm>
          <a:prstGeom prst="rect">
            <a:avLst/>
          </a:prstGeom>
          <a:solidFill>
            <a:srgbClr val="2b3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50292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3e4e52"/>
                </a:solidFill>
                <a:effectLst/>
                <a:uFillTx/>
                <a:latin typeface="Bookman Old Style"/>
                <a:ea typeface="Bookman Old Style"/>
              </a:rPr>
              <a:t>03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57200" y="160020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640080" y="173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841320" y="173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1042560" y="173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59436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cat filename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57200" y="2743200"/>
            <a:ext cx="3017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Printing a file's contents straight to the terminal.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480560" y="548640"/>
            <a:ext cx="715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Printing the contents of a file with cat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480560" y="1188720"/>
            <a:ext cx="71593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Confirm the exact filename/path first — cat filename (or the full path if not in the current directory)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"No such file or directory" → re-list with ls to re-ground your mental model, don't just retype and hope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"Permission denied" → check why with ls -l before reflexively reaching for sudo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Verify the full output is visible — long files can scroll past the buffer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4480560" y="5577840"/>
            <a:ext cx="7159320" cy="77688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709160" y="557784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Full CTA 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>
            <a:hlinkClick r:id="rId1"/>
          </p:cNvPr>
          <p:cNvSpPr/>
          <p:nvPr/>
        </p:nvSpPr>
        <p:spPr>
          <a:xfrm>
            <a:off x="6035040" y="5577840"/>
            <a:ext cx="542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sng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  <a:hlinkClick r:id="rId2"/>
              </a:rPr>
              <a:t>cta.cat-is-cat.md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3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3931560" cy="6857640"/>
          </a:xfrm>
          <a:prstGeom prst="rect">
            <a:avLst/>
          </a:prstGeom>
          <a:solidFill>
            <a:srgbClr val="2b3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457200" y="50292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3e4e52"/>
                </a:solidFill>
                <a:effectLst/>
                <a:uFillTx/>
                <a:latin typeface="Bookman Old Style"/>
                <a:ea typeface="Bookman Old Style"/>
              </a:rPr>
              <a:t>04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457200" y="160020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640080" y="173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841320" y="173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5"/>
          <p:cNvSpPr/>
          <p:nvPr/>
        </p:nvSpPr>
        <p:spPr>
          <a:xfrm>
            <a:off x="1042560" y="173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9436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7z x archive.7z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457200" y="2743200"/>
            <a:ext cx="3017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Extracting a compressed archive so its contents become usable.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4480560" y="548640"/>
            <a:ext cx="715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Extracting files with 7zip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4480560" y="1188720"/>
            <a:ext cx="71593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List before you extract: 7z l archive.7z previews contents and avoids surprises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x preserves folder structure, e flattens everything — pick based on whether structure matters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Use -o&lt;dir&gt; to land files in a clean folder instead of cluttering the current 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If prompted for a password, check the task context for a hint before jumping to brute force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Watch the output for "Wrong password" / "CRC failed" — then confirm with ls that the expected file actually landed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4480560" y="5577840"/>
            <a:ext cx="7159320" cy="77688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4709160" y="557784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Full CTA 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2">
            <a:hlinkClick r:id="rId1"/>
          </p:cNvPr>
          <p:cNvSpPr/>
          <p:nvPr/>
        </p:nvSpPr>
        <p:spPr>
          <a:xfrm>
            <a:off x="6035040" y="5577840"/>
            <a:ext cx="542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sng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  <a:hlinkClick r:id="rId2"/>
              </a:rPr>
              <a:t>cat.using-7z.md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4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4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0" y="0"/>
            <a:ext cx="3931560" cy="6857640"/>
          </a:xfrm>
          <a:prstGeom prst="rect">
            <a:avLst/>
          </a:prstGeom>
          <a:solidFill>
            <a:srgbClr val="2b38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57200" y="502920"/>
            <a:ext cx="2742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3e4e52"/>
                </a:solidFill>
                <a:effectLst/>
                <a:uFillTx/>
                <a:latin typeface="Bookman Old Style"/>
                <a:ea typeface="Bookman Old Style"/>
              </a:rPr>
              <a:t>05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57200" y="1600200"/>
            <a:ext cx="3017160" cy="914040"/>
          </a:xfrm>
          <a:prstGeom prst="roundRect">
            <a:avLst>
              <a:gd name="adj" fmla="val 8000"/>
            </a:avLst>
          </a:prstGeom>
          <a:solidFill>
            <a:srgbClr val="1a2427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640080" y="1737360"/>
            <a:ext cx="118440" cy="118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841320" y="1737360"/>
            <a:ext cx="118440" cy="118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1042560" y="1737360"/>
            <a:ext cx="118440" cy="118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6"/>
          <p:cNvSpPr/>
          <p:nvPr/>
        </p:nvSpPr>
        <p:spPr>
          <a:xfrm>
            <a:off x="59436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</a:rPr>
              <a:t>scp user@host:/path ./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457200" y="2743200"/>
            <a:ext cx="30171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Downloading a file from a remote server to the local machine.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4480560" y="548640"/>
            <a:ext cx="715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ededed"/>
                </a:solidFill>
                <a:effectLst/>
                <a:uFillTx/>
                <a:latin typeface="Bookman Old Style"/>
                <a:ea typeface="Bookman Old Style"/>
              </a:rPr>
              <a:t>Copying remote files to a local computer with scp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9"/>
          <p:cNvSpPr/>
          <p:nvPr/>
        </p:nvSpPr>
        <p:spPr>
          <a:xfrm>
            <a:off x="4480560" y="1188720"/>
            <a:ext cx="71593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Gather user, host, and exact remote path first — syntax is scp user@host:/remote/path ./local/dest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Watch source/destination order — reversing it uploads instead of downloads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Accept/verify the host-key prompt the same way you would for a plain ssh connection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If the transfer stalls, isolate the cause: can you ssh into the host at all?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ededed"/>
              </a:buClr>
              <a:buFont typeface="Wingdings 3" charset="2"/>
              <a:buChar char=""/>
            </a:pPr>
            <a:r>
              <a:rPr lang="en-US" sz="1500" b="0" u="none" strike="noStrike">
                <a:solidFill>
                  <a:srgbClr val="ededed"/>
                </a:solidFill>
                <a:effectLst/>
                <a:uFillTx/>
                <a:latin typeface="Calibri"/>
                <a:ea typeface="Calibri"/>
              </a:rPr>
              <a:t>Confirm the file arrived locally with ls — check size, not just presence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4480560" y="5577840"/>
            <a:ext cx="7159320" cy="776880"/>
          </a:xfrm>
          <a:prstGeom prst="roundRect">
            <a:avLst>
              <a:gd name="adj" fmla="val 9412"/>
            </a:avLst>
          </a:prstGeom>
          <a:solidFill>
            <a:srgbClr val="2b383c"/>
          </a:solidFill>
          <a:ln w="12700">
            <a:solidFill>
              <a:srgbClr val="3e4e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4709160" y="5577840"/>
            <a:ext cx="1462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9aa5a8"/>
                </a:solidFill>
                <a:effectLst/>
                <a:uFillTx/>
                <a:latin typeface="Calibri"/>
                <a:ea typeface="Calibri"/>
              </a:rPr>
              <a:t>Full CTA 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>
            <a:hlinkClick r:id="rId1"/>
          </p:cNvPr>
          <p:cNvSpPr/>
          <p:nvPr/>
        </p:nvSpPr>
        <p:spPr>
          <a:xfrm>
            <a:off x="6035040" y="5577840"/>
            <a:ext cx="5421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sng" strike="noStrike">
                <a:solidFill>
                  <a:srgbClr val="00e676"/>
                </a:solidFill>
                <a:effectLst/>
                <a:uFillTx/>
                <a:latin typeface="Courier New"/>
                <a:ea typeface="Courier New"/>
                <a:hlinkClick r:id="rId2"/>
              </a:rPr>
              <a:t>cat.copying-files-to-you-(scp).md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10881360" y="651060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5 / 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457200" y="651060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9aa5a8"/>
                </a:solidFill>
                <a:effectLst/>
                <a:uFillTx/>
                <a:latin typeface="Courier New"/>
                <a:ea typeface="Courier New"/>
              </a:rPr>
              <a:t>os cookbook · CTA reference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LibreOffice/25.8.7.3$Linux_X86_64 LibreOffice_project/580$Build-3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2026-07-21T02:02:53Z</dcterms:created>
  <dc:creator>PptxGenJS</dc:creator>
  <dc:description/>
  <dc:language>en-US</dc:language>
  <cp:lastModifiedBy/>
  <dcterms:modified xsi:type="dcterms:W3CDTF">2026-07-21T12:09:51Z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